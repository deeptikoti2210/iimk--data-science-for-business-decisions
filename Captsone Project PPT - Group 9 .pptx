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22" r:id="rId2"/>
    <p:sldId id="259" r:id="rId3"/>
    <p:sldId id="296" r:id="rId4"/>
    <p:sldId id="334" r:id="rId5"/>
    <p:sldId id="335" r:id="rId6"/>
    <p:sldId id="336" r:id="rId7"/>
    <p:sldId id="337" r:id="rId8"/>
    <p:sldId id="338" r:id="rId9"/>
    <p:sldId id="340" r:id="rId10"/>
    <p:sldId id="343" r:id="rId11"/>
    <p:sldId id="344" r:id="rId12"/>
    <p:sldId id="297" r:id="rId13"/>
  </p:sldIdLst>
  <p:sldSz cx="12190413" cy="6859588"/>
  <p:notesSz cx="6858000" cy="9144000"/>
  <p:embeddedFontLst>
    <p:embeddedFont>
      <p:font typeface="굴림체" panose="020B0609000101010101" pitchFamily="49" charset="-127"/>
      <p:regular r:id="rId16"/>
    </p:embeddedFont>
    <p:embeddedFont>
      <p:font typeface="맑은 고딕" panose="020B0503020000020004" pitchFamily="34" charset="-127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Noto Sans" panose="020B0604020202020204" charset="0"/>
      <p:regular r:id="rId25"/>
      <p:bold r:id="rId26"/>
    </p:embeddedFont>
    <p:embeddedFont>
      <p:font typeface="SimSun" panose="02010600030101010101" pitchFamily="2" charset="-122"/>
      <p:regular r:id="rId27"/>
    </p:embeddedFont>
  </p:embeddedFontLst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B49"/>
    <a:srgbClr val="2B4A71"/>
    <a:srgbClr val="4A5A74"/>
    <a:srgbClr val="2A4465"/>
    <a:srgbClr val="ADCF2B"/>
    <a:srgbClr val="F8AD01"/>
    <a:srgbClr val="0E343D"/>
    <a:srgbClr val="79B4B5"/>
    <a:srgbClr val="E4B598"/>
    <a:srgbClr val="F7E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36" autoAdjust="0"/>
    <p:restoredTop sz="93784" autoAdjust="0"/>
  </p:normalViewPr>
  <p:slideViewPr>
    <p:cSldViewPr>
      <p:cViewPr varScale="1">
        <p:scale>
          <a:sx n="59" d="100"/>
          <a:sy n="59" d="100"/>
        </p:scale>
        <p:origin x="368" y="60"/>
      </p:cViewPr>
      <p:guideLst>
        <p:guide orient="horz" pos="2160"/>
        <p:guide pos="2880"/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36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10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0"/>
            <a:ext cx="12190410" cy="6857105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부제목 2"/>
          <p:cNvSpPr>
            <a:spLocks noGrp="1"/>
          </p:cNvSpPr>
          <p:nvPr>
            <p:ph type="subTitle" idx="1"/>
          </p:nvPr>
        </p:nvSpPr>
        <p:spPr>
          <a:xfrm>
            <a:off x="4583038" y="2635252"/>
            <a:ext cx="7488832" cy="54708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  <a:lvl2pPr marL="497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5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4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2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4583038" y="909514"/>
            <a:ext cx="7488832" cy="194421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8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0"/>
            <a:ext cx="12190410" cy="6857105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0"/>
            <a:ext cx="12190410" cy="6857105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0"/>
            <a:ext cx="12190410" cy="6857106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9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/>
              <a:t>Replaced with your own text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09520" y="189434"/>
            <a:ext cx="10971373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0"/>
            <a:ext cx="12190410" cy="6857106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609521" y="189434"/>
            <a:ext cx="10971372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9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8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itchFamily="34" charset="0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/>
              <a:t>Replaced with your own text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40"/>
            <a:ext cx="12190410" cy="6857106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5087094" y="1917626"/>
            <a:ext cx="5806012" cy="194421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9569" tIns="49785" rIns="99569" bIns="49785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ctr" defTabSz="99569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200" kern="1200" baseline="0" dirty="0">
                <a:solidFill>
                  <a:schemeClr val="bg1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21" y="19030"/>
            <a:ext cx="10971372" cy="797093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062267"/>
            <a:ext cx="10971372" cy="5287636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21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2024-09-14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059" y="6430887"/>
            <a:ext cx="3860297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463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</p:sldLayoutIdLst>
  <p:txStyles>
    <p:titleStyle>
      <a:lvl1pPr algn="l" defTabSz="995690" rtl="0" eaLnBrk="1" latinLnBrk="1" hangingPunct="1">
        <a:spcBef>
          <a:spcPct val="0"/>
        </a:spcBef>
        <a:buNone/>
        <a:defRPr lang="ko-KR" altLang="en-US" sz="38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7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lang="ko-KR" altLang="en-US" sz="2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lang="ko-KR" altLang="en-US"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deepti.k6218/viz/CapstoneProject-VehicleSafetyAnalysis/Dashboard1#1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wish9/synthetic-indian-automobile-crash-data/data" TargetMode="External"/><Relationship Id="rId2" Type="http://schemas.openxmlformats.org/officeDocument/2006/relationships/hyperlink" Target="https://www.who.int/news-room/fact-sheets/detail/road-traffic-injuries#:~:text=Approximately%201.19%20million%20people%20die,adults%20aged%205%E2%80%9329%20years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argionislaw.com/car-accidents/who-causes-more-car-accidents-men-or-women/" TargetMode="External"/><Relationship Id="rId4" Type="http://schemas.openxmlformats.org/officeDocument/2006/relationships/hyperlink" Target="https://www.firstpost.com/explainers/when-is-it-most-risky-to-be-on-the-indian-roads-11919432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BDDA173B-97FA-47F3-9096-A3D4C9DE1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8943" y="909514"/>
            <a:ext cx="8352928" cy="1944216"/>
          </a:xfrm>
        </p:spPr>
        <p:txBody>
          <a:bodyPr/>
          <a:lstStyle/>
          <a:p>
            <a:pPr algn="ctr"/>
            <a:r>
              <a:rPr lang="en-US" altLang="en-US" sz="3200" b="1" dirty="0"/>
              <a:t>A DATA-DRIVEN EXPLORATION OF INDIAN MAKE</a:t>
            </a:r>
            <a:br>
              <a:rPr lang="en-IN" altLang="en-US" sz="3200" dirty="0"/>
            </a:br>
            <a:r>
              <a:rPr lang="en-US" altLang="en-US" sz="3200" b="1" dirty="0"/>
              <a:t>CAR CRASH DATA THROUGH MODELING</a:t>
            </a:r>
            <a:br>
              <a:rPr lang="en-IN" altLang="en-US" sz="3200" dirty="0"/>
            </a:br>
            <a:r>
              <a:rPr lang="en-US" altLang="en-US" sz="3200" b="1" dirty="0"/>
              <a:t>AND ENSEMBLE TECHNIQUES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C55D75-B326-4944-AD52-85F190742D2A}"/>
              </a:ext>
            </a:extLst>
          </p:cNvPr>
          <p:cNvSpPr txBox="1"/>
          <p:nvPr/>
        </p:nvSpPr>
        <p:spPr>
          <a:xfrm>
            <a:off x="5159102" y="3717826"/>
            <a:ext cx="62646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GROUP-09_DSBD-01: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PULKIT BANSAL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VIVEK KUMAR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DEEPTI KOTI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UPPU UMA MAHESH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SUMIT BHANDARI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SUBASH S.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ASHISH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910630" y="693490"/>
            <a:ext cx="360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CONTENTS</a:t>
            </a:r>
            <a:endParaRPr lang="ko-KR" altLang="en-US" sz="4400" b="1" dirty="0">
              <a:solidFill>
                <a:schemeClr val="bg1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982638" y="1989634"/>
            <a:ext cx="6336704" cy="473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BACKGROUND &amp; PROBLEM MOTIVATION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OBJECTIVES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DATA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DESCRIPTIVE &amp; PREDITIVE ANALYSIS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RESULTS &amp; INTERPRETATIONS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RECOMMENDATION &amp; CONCLUSION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+mj-lt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 BACKROUND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609520" y="1485578"/>
            <a:ext cx="11174317" cy="482453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500" i="0" dirty="0"/>
              <a:t>Factors contributing to the road accidents-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Speeding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Influence of alcohol and drugs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Non usage of motorcycle helmets, seat belts, child seats etc.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Distracted driving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Unsafe road structures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Unsafe vehicles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Inadequate enforcement of traffic laws</a:t>
            </a:r>
          </a:p>
          <a:p>
            <a:pPr marL="0" lvl="1" indent="358775"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World Health Organization (WHO) reports: ~1.19 million people die each year as a result of road traffic crashes</a:t>
            </a:r>
          </a:p>
          <a:p>
            <a:pPr marL="0" lvl="2" indent="434975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lt"/>
              </a:rPr>
              <a:t>Technology advancements - </a:t>
            </a:r>
            <a:r>
              <a:rPr lang="en-US" altLang="en-US" dirty="0">
                <a:latin typeface="+mj-lt"/>
              </a:rPr>
              <a:t>seat belts to airbags, anti-lock braking systems (ABS), electronic stability control (ESC), and advanced driver assistance systems (ADAS)</a:t>
            </a:r>
            <a:endParaRPr lang="en-US" altLang="ko-KR" dirty="0">
              <a:latin typeface="+mj-lt"/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 PROBLEM MOTIVATION</a:t>
            </a:r>
            <a:endParaRPr lang="ko-KR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A14D63-5489-465A-95D3-BE7F108AF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35" y="1485578"/>
            <a:ext cx="11390342" cy="4824535"/>
          </a:xfrm>
        </p:spPr>
        <p:txBody>
          <a:bodyPr/>
          <a:lstStyle/>
          <a:p>
            <a:pPr marL="0" lvl="2" indent="434975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lt"/>
              </a:rPr>
              <a:t>Technology advancements - </a:t>
            </a:r>
            <a:r>
              <a:rPr lang="en-US" altLang="en-US" dirty="0">
                <a:latin typeface="+mj-lt"/>
              </a:rPr>
              <a:t>seat belts to airbags, anti-lock braking systems (ABS), </a:t>
            </a:r>
          </a:p>
          <a:p>
            <a:pPr marL="0" lvl="2" indent="0"/>
            <a:r>
              <a:rPr lang="en-US" altLang="en-US" dirty="0">
                <a:latin typeface="+mj-lt"/>
              </a:rPr>
              <a:t>electronic stability control (ESC), and advanced driver assistance systems (ADAS)</a:t>
            </a:r>
          </a:p>
          <a:p>
            <a:pPr marL="0" lvl="2" indent="434975"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Ministry of Road Transport and Highways (</a:t>
            </a:r>
            <a:r>
              <a:rPr lang="en-US" altLang="en-US" dirty="0" err="1">
                <a:latin typeface="+mj-lt"/>
              </a:rPr>
              <a:t>MoRTH</a:t>
            </a:r>
            <a:r>
              <a:rPr lang="en-US" altLang="en-US" dirty="0">
                <a:latin typeface="+mj-lt"/>
              </a:rPr>
              <a:t>): </a:t>
            </a:r>
          </a:p>
          <a:p>
            <a:pPr marL="497845" lvl="3" indent="434975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j-lt"/>
              </a:rPr>
              <a:t>India has the highest number of road traffic fatalities, with approximately </a:t>
            </a: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1.5 lakh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deaths annually</a:t>
            </a:r>
          </a:p>
          <a:p>
            <a:pPr marL="497845" lvl="3" indent="434975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lt"/>
              </a:rPr>
              <a:t>In 2022, road accidents accounted for more than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4.6 lakhs </a:t>
            </a:r>
            <a:r>
              <a:rPr lang="en-US" altLang="en-US" sz="2000" dirty="0">
                <a:latin typeface="+mj-lt"/>
              </a:rPr>
              <a:t>road accidents</a:t>
            </a:r>
          </a:p>
          <a:p>
            <a:pPr marL="995690" lvl="4" indent="434975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1.6+ lakhs lives and causing injuries to 4.4+ lakhs individuals.</a:t>
            </a:r>
          </a:p>
          <a:p>
            <a:pPr marL="0" lvl="4" indent="446088"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Motivation: </a:t>
            </a:r>
          </a:p>
          <a:p>
            <a:pPr marL="497845" lvl="5" indent="446088"/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rPr>
              <a:t>Reducing the staggering number of road traffic fatalities and injuries </a:t>
            </a:r>
          </a:p>
          <a:p>
            <a:pPr marL="497845" lvl="5" indent="446088"/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rPr>
              <a:t>Impose significant economic burdens on the society, including healthcare costs, loss of productivity, and damage to infrastructure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맑은 고딕" pitchFamily="50" charset="-127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89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 OBJECTIVES</a:t>
            </a:r>
            <a:endParaRPr lang="ko-KR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A14D63-5489-465A-95D3-BE7F108AF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Perform descriptive analysis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Provide visualizations and interpretations of performance metrics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Identify Factors Influencing Crash Severity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Evaluate the Effectiveness of Safety Features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Identify High-Risk Scenarios and Locations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Explore Temporal Patterns and Trends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Understand Demographic and Gender-Based Impacts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Assess Vehicle Safety Performance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Develop Predictive Models for Crash Severity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Support Decision-Making for Vehicle Design and Regulations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Support Consumer Choice</a:t>
            </a:r>
          </a:p>
        </p:txBody>
      </p:sp>
    </p:spTree>
    <p:extLst>
      <p:ext uri="{BB962C8B-B14F-4D97-AF65-F5344CB8AC3E}">
        <p14:creationId xmlns:p14="http://schemas.microsoft.com/office/powerpoint/2010/main" val="1618963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DATA</a:t>
            </a:r>
            <a:endParaRPr lang="ko-KR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A14D63-5489-465A-95D3-BE7F108AF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20" y="1485578"/>
            <a:ext cx="11174317" cy="4824535"/>
          </a:xfrm>
        </p:spPr>
        <p:txBody>
          <a:bodyPr numCol="3">
            <a:normAutofit/>
          </a:bodyPr>
          <a:lstStyle/>
          <a:p>
            <a:pPr lvl="0"/>
            <a:r>
              <a:rPr lang="en-US" altLang="en-US" i="0" dirty="0" err="1"/>
              <a:t>Vehicle_make</a:t>
            </a:r>
            <a:r>
              <a:rPr lang="en-US" altLang="en-US" i="0" dirty="0"/>
              <a:t>.</a:t>
            </a:r>
            <a:endParaRPr lang="en-IN" altLang="en-US" i="0" dirty="0"/>
          </a:p>
          <a:p>
            <a:pPr lvl="0"/>
            <a:r>
              <a:rPr lang="en-US" altLang="en-US" i="0" dirty="0" err="1"/>
              <a:t>Vehicle_type</a:t>
            </a:r>
            <a:endParaRPr lang="en-US" altLang="en-US" i="0" dirty="0"/>
          </a:p>
          <a:p>
            <a:pPr lvl="0"/>
            <a:r>
              <a:rPr lang="en-US" altLang="en-US" i="0" dirty="0" err="1"/>
              <a:t>Vehicle_Avg_Price</a:t>
            </a:r>
            <a:r>
              <a:rPr lang="en-US" altLang="en-US" i="0" dirty="0"/>
              <a:t> (in Rs.)</a:t>
            </a:r>
          </a:p>
          <a:p>
            <a:pPr lvl="0"/>
            <a:r>
              <a:rPr lang="en-US" altLang="en-US" i="0" dirty="0" err="1"/>
              <a:t>Vehicle_year</a:t>
            </a:r>
            <a:endParaRPr lang="en-US" altLang="en-US" i="0" dirty="0"/>
          </a:p>
          <a:p>
            <a:pPr lvl="0"/>
            <a:r>
              <a:rPr lang="en-US" altLang="en-US" i="0" dirty="0" err="1"/>
              <a:t>Engine_type</a:t>
            </a:r>
            <a:endParaRPr lang="en-US" altLang="en-US" i="0" dirty="0"/>
          </a:p>
          <a:p>
            <a:pPr lvl="0"/>
            <a:r>
              <a:rPr lang="en-US" altLang="en-US" i="0" dirty="0" err="1"/>
              <a:t>Engine_displacement</a:t>
            </a:r>
            <a:endParaRPr lang="en-US" altLang="en-US" i="0" dirty="0"/>
          </a:p>
          <a:p>
            <a:pPr lvl="0"/>
            <a:r>
              <a:rPr lang="en-US" altLang="en-US" i="0" dirty="0" err="1"/>
              <a:t>Transmission_type</a:t>
            </a:r>
            <a:r>
              <a:rPr lang="en-US" altLang="en-US" i="0" dirty="0"/>
              <a:t>:</a:t>
            </a:r>
          </a:p>
          <a:p>
            <a:pPr lvl="0"/>
            <a:r>
              <a:rPr lang="en-US" altLang="en-US" i="0" dirty="0" err="1"/>
              <a:t>Number_of_cylinders</a:t>
            </a:r>
            <a:endParaRPr lang="en-US" altLang="en-US" i="0" dirty="0"/>
          </a:p>
          <a:p>
            <a:pPr lvl="0"/>
            <a:r>
              <a:rPr lang="en-US" altLang="en-US" i="0" dirty="0" err="1"/>
              <a:t>Vehicle_weight</a:t>
            </a:r>
            <a:r>
              <a:rPr lang="en-US" altLang="en-US" i="0" dirty="0"/>
              <a:t>(kg)</a:t>
            </a:r>
          </a:p>
          <a:p>
            <a:pPr lvl="0"/>
            <a:r>
              <a:rPr lang="en-US" altLang="en-US" i="0" dirty="0" err="1"/>
              <a:t>Vehicle_length</a:t>
            </a:r>
            <a:r>
              <a:rPr lang="en-IN" altLang="en-US" i="0" dirty="0"/>
              <a:t>(mm)</a:t>
            </a:r>
          </a:p>
          <a:p>
            <a:pPr lvl="0"/>
            <a:r>
              <a:rPr lang="en-US" altLang="en-US" i="0" dirty="0" err="1"/>
              <a:t>Vehicle_width</a:t>
            </a:r>
            <a:r>
              <a:rPr lang="en-US" altLang="en-US" i="0" dirty="0"/>
              <a:t>(mm)</a:t>
            </a:r>
          </a:p>
          <a:p>
            <a:pPr lvl="0"/>
            <a:r>
              <a:rPr lang="en-US" altLang="en-US" i="0" dirty="0" err="1"/>
              <a:t>Vehicle_height</a:t>
            </a:r>
            <a:r>
              <a:rPr lang="en-US" altLang="en-US" i="0" dirty="0"/>
              <a:t>(mm)</a:t>
            </a:r>
            <a:endParaRPr lang="en-IN" altLang="en-US" i="0" dirty="0"/>
          </a:p>
          <a:p>
            <a:pPr lvl="0"/>
            <a:r>
              <a:rPr lang="en-US" altLang="en-US" i="0" dirty="0" err="1"/>
              <a:t>Safety_rating</a:t>
            </a:r>
            <a:endParaRPr lang="en-IN" altLang="en-US" i="0" dirty="0"/>
          </a:p>
          <a:p>
            <a:pPr lvl="0"/>
            <a:r>
              <a:rPr lang="en-US" altLang="en-US" i="0" dirty="0" err="1"/>
              <a:t>Number_of_airbags</a:t>
            </a:r>
            <a:endParaRPr lang="en-US" altLang="en-US" i="0" dirty="0"/>
          </a:p>
          <a:p>
            <a:pPr lvl="0"/>
            <a:r>
              <a:rPr lang="en-US" altLang="en-US" i="0" dirty="0" err="1"/>
              <a:t>ABS_presence</a:t>
            </a:r>
            <a:endParaRPr lang="en-US" altLang="en-US" i="0" dirty="0"/>
          </a:p>
          <a:p>
            <a:pPr lvl="0"/>
            <a:r>
              <a:rPr lang="en-US" altLang="en-US" i="0" dirty="0" err="1"/>
              <a:t>ESC_presence</a:t>
            </a:r>
            <a:endParaRPr lang="en-US" altLang="en-US" i="0" dirty="0"/>
          </a:p>
          <a:p>
            <a:pPr lvl="0"/>
            <a:r>
              <a:rPr lang="en-US" altLang="en-US" i="0" dirty="0" err="1"/>
              <a:t>TCS_presence</a:t>
            </a:r>
            <a:endParaRPr lang="en-US" altLang="en-US" i="0" dirty="0"/>
          </a:p>
          <a:p>
            <a:pPr lvl="0"/>
            <a:r>
              <a:rPr lang="en-US" altLang="en-US" i="0" dirty="0" err="1"/>
              <a:t>TPMS_presence</a:t>
            </a:r>
            <a:endParaRPr lang="en-US" altLang="en-US" i="0" dirty="0"/>
          </a:p>
          <a:p>
            <a:pPr lvl="0"/>
            <a:r>
              <a:rPr lang="en-US" altLang="en-US" i="0" dirty="0" err="1"/>
              <a:t>Crash_location</a:t>
            </a:r>
            <a:endParaRPr lang="en-US" altLang="en-US" i="0" dirty="0"/>
          </a:p>
          <a:p>
            <a:pPr lvl="0"/>
            <a:r>
              <a:rPr lang="en-US" altLang="en-US" i="0" dirty="0" err="1"/>
              <a:t>Weather_conditions</a:t>
            </a:r>
            <a:endParaRPr lang="en-US" altLang="en-US" i="0" dirty="0"/>
          </a:p>
          <a:p>
            <a:pPr lvl="0"/>
            <a:r>
              <a:rPr lang="en-US" altLang="en-US" i="0" dirty="0" err="1"/>
              <a:t>Road_surface_conditions</a:t>
            </a:r>
            <a:endParaRPr lang="en-IN" altLang="en-US" i="0" dirty="0"/>
          </a:p>
          <a:p>
            <a:pPr lvl="0"/>
            <a:r>
              <a:rPr lang="en-US" altLang="en-US" i="0" dirty="0" err="1"/>
              <a:t>Time_of_day</a:t>
            </a:r>
            <a:endParaRPr lang="en-IN" altLang="en-US" i="0" dirty="0"/>
          </a:p>
          <a:p>
            <a:pPr lvl="0"/>
            <a:r>
              <a:rPr lang="en-US" altLang="en-US" i="0" dirty="0" err="1"/>
              <a:t>Day_of_week</a:t>
            </a:r>
            <a:endParaRPr lang="en-IN" altLang="en-US" i="0" dirty="0"/>
          </a:p>
          <a:p>
            <a:pPr lvl="0"/>
            <a:r>
              <a:rPr lang="en-US" altLang="en-US" i="0" dirty="0" err="1"/>
              <a:t>Driver_age</a:t>
            </a:r>
            <a:endParaRPr lang="en-IN" altLang="en-US" i="0" dirty="0"/>
          </a:p>
          <a:p>
            <a:pPr lvl="0"/>
            <a:r>
              <a:rPr lang="en-US" altLang="en-US" i="0" dirty="0" err="1"/>
              <a:t>Driver_gender</a:t>
            </a:r>
            <a:endParaRPr lang="en-US" altLang="en-US" i="0" dirty="0"/>
          </a:p>
          <a:p>
            <a:pPr lvl="0"/>
            <a:r>
              <a:rPr lang="en-US" altLang="en-US" i="0" dirty="0" err="1"/>
              <a:t>Crash_severity</a:t>
            </a:r>
            <a:endParaRPr lang="en-US" altLang="en-US" i="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Imbalanced- does not follow normal distribution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i="0" dirty="0"/>
              <a:t>Severity is derived based on the condition of vehicle post-crash</a:t>
            </a:r>
            <a:endParaRPr lang="en-IN" altLang="en-US" i="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95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 DESCRIPTIVE &amp; PREDICTIVE ANALYSIS</a:t>
            </a:r>
            <a:endParaRPr lang="ko-KR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A14D63-5489-465A-95D3-BE7F108AF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altLang="en-US" i="0" dirty="0"/>
              <a:t>Tools: </a:t>
            </a:r>
          </a:p>
          <a:p>
            <a:pPr lvl="0"/>
            <a:r>
              <a:rPr lang="en-IN" altLang="en-US" i="0" dirty="0"/>
              <a:t>	</a:t>
            </a:r>
            <a:r>
              <a:rPr lang="en-US" altLang="en-US" dirty="0"/>
              <a:t>R-Studio, PyCharm, Jupiter Notebook, MS Excel and Tableau Public</a:t>
            </a:r>
          </a:p>
          <a:p>
            <a:pPr lvl="0"/>
            <a:endParaRPr lang="en-US" altLang="en-US" i="0" dirty="0"/>
          </a:p>
          <a:p>
            <a:pPr marL="457200" lvl="0" indent="-457200">
              <a:buAutoNum type="arabicPeriod"/>
            </a:pPr>
            <a:r>
              <a:rPr lang="en-US" altLang="en-US" i="0" dirty="0"/>
              <a:t>Data Standardization</a:t>
            </a:r>
          </a:p>
          <a:p>
            <a:pPr marL="457200" lvl="0" indent="-457200">
              <a:buAutoNum type="arabicPeriod"/>
            </a:pPr>
            <a:r>
              <a:rPr lang="en-US" altLang="en-US" i="0" dirty="0"/>
              <a:t>Exploratory Data Analysis (EDA) </a:t>
            </a:r>
          </a:p>
          <a:p>
            <a:pPr marL="457200" lvl="0" indent="-457200">
              <a:buAutoNum type="arabicPeriod"/>
            </a:pPr>
            <a:r>
              <a:rPr lang="en-US" altLang="en-US" i="0" dirty="0"/>
              <a:t>Standard Scaler </a:t>
            </a:r>
          </a:p>
          <a:p>
            <a:pPr marL="457200" lvl="0" indent="-457200">
              <a:buAutoNum type="arabicPeriod"/>
            </a:pPr>
            <a:r>
              <a:rPr lang="en-US" altLang="en-US" i="0" dirty="0"/>
              <a:t>Logistic Regression Model 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en-US" i="0" dirty="0"/>
              <a:t>Other prediction models : Naïve Bayes, KNN, Decision Tree Classifier, Gradient Boosting Classifier, Random Forest Classifier using significant variables with and without Manufacturer variable. \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en-US" i="0" dirty="0"/>
              <a:t>Dashboard - </a:t>
            </a:r>
            <a:r>
              <a:rPr lang="en-US" altLang="en-US" i="0" u="sng" dirty="0">
                <a:hlinkClick r:id="rId2"/>
              </a:rPr>
              <a:t>https://public.tableau.com/app/profile/deepti.k6218/viz/CapstoneProject-VehicleSafetyAnalysis/Dashboard1#1</a:t>
            </a:r>
            <a:r>
              <a:rPr lang="en-US" altLang="en-US" i="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610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 RESULTS &amp; INTERPRETATIONS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46050-BC2D-4D24-A2EE-1A2AAF84EF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4566" y="1833393"/>
            <a:ext cx="6015990" cy="18224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BC0678-AA6F-4777-9AF6-987BB08C613B}"/>
              </a:ext>
            </a:extLst>
          </p:cNvPr>
          <p:cNvSpPr/>
          <p:nvPr/>
        </p:nvSpPr>
        <p:spPr>
          <a:xfrm>
            <a:off x="-169490" y="1197546"/>
            <a:ext cx="4439036" cy="614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>
              <a:lnSpc>
                <a:spcPct val="200000"/>
              </a:lnSpc>
              <a:spcAft>
                <a:spcPts val="0"/>
              </a:spcAft>
            </a:pPr>
            <a:r>
              <a:rPr lang="en-US" u="sng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Day of the week vs # vehicle crashes</a:t>
            </a:r>
            <a:endParaRPr lang="en-I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66A635-E1F8-40AC-B083-4B61A61204C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686" y="4509914"/>
            <a:ext cx="2038350" cy="19761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0B6BE3-0C5A-412E-AF83-7AFE3476D158}"/>
              </a:ext>
            </a:extLst>
          </p:cNvPr>
          <p:cNvSpPr/>
          <p:nvPr/>
        </p:nvSpPr>
        <p:spPr>
          <a:xfrm>
            <a:off x="-168849" y="4005969"/>
            <a:ext cx="2218877" cy="614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>
              <a:lnSpc>
                <a:spcPct val="200000"/>
              </a:lnSpc>
              <a:spcAft>
                <a:spcPts val="0"/>
              </a:spcAft>
            </a:pPr>
            <a:r>
              <a:rPr lang="en-US" u="sng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Crash Location</a:t>
            </a:r>
            <a:endParaRPr lang="en-I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51CA45-9D82-425F-8628-29BB6A8CBF8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655046" y="4285404"/>
            <a:ext cx="7272808" cy="19062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6B45F7-5B10-4CB6-9D3D-16C019D409C8}"/>
              </a:ext>
            </a:extLst>
          </p:cNvPr>
          <p:cNvSpPr/>
          <p:nvPr/>
        </p:nvSpPr>
        <p:spPr>
          <a:xfrm>
            <a:off x="4150990" y="3626616"/>
            <a:ext cx="3116897" cy="614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200000"/>
              </a:lnSpc>
              <a:spcAft>
                <a:spcPts val="0"/>
              </a:spcAft>
            </a:pPr>
            <a:r>
              <a:rPr lang="en-US" u="sng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Driver Age and Gender</a:t>
            </a:r>
            <a:endParaRPr lang="en-I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B0B9CE-C10A-453A-8FD0-DA94FD780A4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751991" y="1198407"/>
            <a:ext cx="2414989" cy="25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4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 RESULTS &amp; INTERPRETATIONS</a:t>
            </a:r>
            <a:endParaRPr lang="ko-KR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A14D63-5489-465A-95D3-BE7F108AF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IN" sz="2400" i="0" dirty="0"/>
              <a:t>Confusion Matrix</a:t>
            </a:r>
          </a:p>
          <a:p>
            <a:pPr marL="0" indent="0"/>
            <a:endParaRPr lang="en-IN" dirty="0"/>
          </a:p>
          <a:p>
            <a:r>
              <a:rPr lang="en-IN" dirty="0"/>
              <a:t>Random Forest Classifier (Accuracy - 99.83%)</a:t>
            </a:r>
          </a:p>
          <a:p>
            <a:r>
              <a:rPr lang="en-IN" dirty="0"/>
              <a:t>[427   0]</a:t>
            </a:r>
          </a:p>
          <a:p>
            <a:r>
              <a:rPr lang="en-IN" dirty="0"/>
              <a:t>[  0 772]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Gradient Boosting Classifier (Accuracy - 100%)</a:t>
            </a:r>
          </a:p>
          <a:p>
            <a:r>
              <a:rPr lang="en-IN" dirty="0"/>
              <a:t>[427   0]</a:t>
            </a:r>
          </a:p>
          <a:p>
            <a:r>
              <a:rPr lang="en-IN" dirty="0"/>
              <a:t>[  2 770]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05F6F7-6A50-4418-97B4-ABF223F5E0B8}"/>
              </a:ext>
            </a:extLst>
          </p:cNvPr>
          <p:cNvGrpSpPr/>
          <p:nvPr/>
        </p:nvGrpSpPr>
        <p:grpSpPr>
          <a:xfrm>
            <a:off x="694606" y="3664216"/>
            <a:ext cx="9368850" cy="863302"/>
            <a:chOff x="1572267" y="3286227"/>
            <a:chExt cx="9368850" cy="8633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CFF24CD-0702-4CF8-971E-53D103CF8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2267" y="3286227"/>
              <a:ext cx="3971188" cy="86330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DAD3BC-70B5-4A11-A43D-075D64D63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60891" y="3286227"/>
              <a:ext cx="3880226" cy="7920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518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 RECOMMENDATION &amp; CONCLUSION</a:t>
            </a:r>
            <a:endParaRPr lang="ko-KR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39429-CD0F-4353-9F81-E4E95669EE03}"/>
              </a:ext>
            </a:extLst>
          </p:cNvPr>
          <p:cNvSpPr/>
          <p:nvPr/>
        </p:nvSpPr>
        <p:spPr>
          <a:xfrm>
            <a:off x="334566" y="1341562"/>
            <a:ext cx="115212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Random Forest Classifier </a:t>
            </a:r>
            <a:r>
              <a:rPr lang="en-US" altLang="en-US" dirty="0"/>
              <a:t>is the most suitable model for our needs, with </a:t>
            </a:r>
            <a:r>
              <a:rPr lang="en-US" altLang="en-US" b="1" dirty="0">
                <a:solidFill>
                  <a:srgbClr val="00B050"/>
                </a:solidFill>
              </a:rPr>
              <a:t>Gradient Boosting </a:t>
            </a:r>
            <a:r>
              <a:rPr lang="en-US" altLang="en-US" dirty="0"/>
              <a:t>as a strong </a:t>
            </a:r>
          </a:p>
          <a:p>
            <a:pPr marL="373063" indent="-285750"/>
            <a:r>
              <a:rPr lang="en-US" altLang="en-US" dirty="0"/>
              <a:t>secondary option.</a:t>
            </a:r>
          </a:p>
          <a:p>
            <a:endParaRPr lang="en-IN" altLang="en-US" dirty="0"/>
          </a:p>
          <a:p>
            <a:pPr indent="358775">
              <a:buFont typeface="Arial" panose="020B0604020202020204" pitchFamily="34" charset="0"/>
              <a:buChar char="•"/>
            </a:pPr>
            <a:r>
              <a:rPr lang="en-US" altLang="en-US" dirty="0"/>
              <a:t>Identified several critical factors influencing crash severity in India - </a:t>
            </a:r>
            <a:r>
              <a:rPr lang="en-US" altLang="en-US" b="1" dirty="0"/>
              <a:t>engine type, weather conditions, </a:t>
            </a:r>
          </a:p>
          <a:p>
            <a:pPr marL="87313"/>
            <a:r>
              <a:rPr lang="en-US" altLang="en-US" b="1" dirty="0"/>
              <a:t>road surface conditions, time of day, day of the week and driver age</a:t>
            </a:r>
            <a:r>
              <a:rPr lang="en-US" altLang="en-US" dirty="0"/>
              <a:t>. </a:t>
            </a:r>
          </a:p>
          <a:p>
            <a:pPr indent="358775">
              <a:buFont typeface="Arial" panose="020B0604020202020204" pitchFamily="34" charset="0"/>
              <a:buChar char="•"/>
            </a:pPr>
            <a:r>
              <a:rPr lang="en-US" altLang="en-US" dirty="0"/>
              <a:t>Allows businesses and policymakers to optimize their resources by focusing efforts precisely where they </a:t>
            </a:r>
          </a:p>
          <a:p>
            <a:pPr marL="87313" indent="0"/>
            <a:r>
              <a:rPr lang="en-US" altLang="en-US" dirty="0"/>
              <a:t>are needed, reducing moderate crashes through broad measures while ensuring severe crashes are accurately identified and addressed with intensive interventions</a:t>
            </a:r>
          </a:p>
          <a:p>
            <a:pPr indent="271463">
              <a:buFont typeface="Arial" panose="020B0604020202020204" pitchFamily="34" charset="0"/>
              <a:buChar char="•"/>
            </a:pPr>
            <a:r>
              <a:rPr lang="en-US" altLang="en-US" dirty="0"/>
              <a:t>Supports strategic planning and decision-making processes, enabling more effective road safety campaigns, better risk assessments, and enhanced overall safety outcomes</a:t>
            </a:r>
            <a:endParaRPr lang="en-IN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869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 REFERENCES</a:t>
            </a:r>
            <a:endParaRPr lang="ko-KR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39429-CD0F-4353-9F81-E4E95669EE03}"/>
              </a:ext>
            </a:extLst>
          </p:cNvPr>
          <p:cNvSpPr/>
          <p:nvPr/>
        </p:nvSpPr>
        <p:spPr>
          <a:xfrm>
            <a:off x="334566" y="1341562"/>
            <a:ext cx="11521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altLang="en-US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A67A7-01EC-4D3B-8ADD-EB4011908AAB}"/>
              </a:ext>
            </a:extLst>
          </p:cNvPr>
          <p:cNvSpPr/>
          <p:nvPr/>
        </p:nvSpPr>
        <p:spPr>
          <a:xfrm>
            <a:off x="550590" y="1557586"/>
            <a:ext cx="10873208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714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u="sng" dirty="0">
                <a:hlinkClick r:id="rId2"/>
              </a:rPr>
              <a:t>https://www.who.int/news-room/fact-sheets/detail/road-traffic-injuries#:~:text=Approximately%201.19%20million%20people%20die,adults%20aged%205%E2%80%9329%20years</a:t>
            </a:r>
            <a:endParaRPr lang="en-IN" altLang="en-US" dirty="0"/>
          </a:p>
          <a:p>
            <a:pPr lvl="0" indent="2714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Road Accidents in India 2022, Government of India, Ministry of Road Transport and Highways</a:t>
            </a:r>
            <a:endParaRPr lang="en-IN" altLang="en-US" dirty="0"/>
          </a:p>
          <a:p>
            <a:pPr lvl="0" indent="2714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u="sng" dirty="0">
                <a:hlinkClick r:id="rId3"/>
              </a:rPr>
              <a:t>https://www.kaggle.com/datasets/swish9/synthetic-indian-automobile-crash-data/data</a:t>
            </a:r>
            <a:r>
              <a:rPr lang="en-US" altLang="en-US" dirty="0"/>
              <a:t> </a:t>
            </a:r>
            <a:endParaRPr lang="en-IN" altLang="en-US" dirty="0"/>
          </a:p>
          <a:p>
            <a:pPr lvl="0" indent="2714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Road Accidents in Kerala 2018-2022, Government of Kerala, Department of Economics and Statistics</a:t>
            </a:r>
            <a:endParaRPr lang="en-IN" altLang="en-US" dirty="0"/>
          </a:p>
          <a:p>
            <a:pPr lvl="0" indent="2714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u="sng" dirty="0">
                <a:hlinkClick r:id="rId4"/>
              </a:rPr>
              <a:t>https://www.firstpost.com/explainers/when-is-it-most-risky-to-be-on-the-indian-roads-11919432.html</a:t>
            </a:r>
            <a:r>
              <a:rPr lang="en-US" altLang="en-US" dirty="0"/>
              <a:t> </a:t>
            </a:r>
            <a:endParaRPr lang="en-IN" altLang="en-US" dirty="0"/>
          </a:p>
          <a:p>
            <a:pPr lvl="0" indent="2714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u="sng" dirty="0">
                <a:hlinkClick r:id="rId5"/>
              </a:rPr>
              <a:t>https://www.argionislaw.com/car-accidents/who-causes-more-car-accidents-men-or-women/</a:t>
            </a:r>
            <a:r>
              <a:rPr lang="en-US" altLang="en-US" dirty="0"/>
              <a:t> </a:t>
            </a: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419479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5231110" y="1845618"/>
            <a:ext cx="5688632" cy="1872208"/>
          </a:xfrm>
        </p:spPr>
        <p:txBody>
          <a:bodyPr/>
          <a:lstStyle/>
          <a:p>
            <a:pPr algn="ctr"/>
            <a:r>
              <a:rPr lang="en-US" altLang="ko-KR" dirty="0"/>
              <a:t>THANK YOU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12340</TotalTime>
  <Words>808</Words>
  <Application>Microsoft Office PowerPoint</Application>
  <PresentationFormat>Custom</PresentationFormat>
  <Paragraphs>130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굴림체</vt:lpstr>
      <vt:lpstr>Calibri</vt:lpstr>
      <vt:lpstr>Times New Roman</vt:lpstr>
      <vt:lpstr>Arial</vt:lpstr>
      <vt:lpstr>맑은 고딕</vt:lpstr>
      <vt:lpstr>Noto Sans</vt:lpstr>
      <vt:lpstr>Calibri Light</vt:lpstr>
      <vt:lpstr>SimSun</vt:lpstr>
      <vt:lpstr>Office 테마</vt:lpstr>
      <vt:lpstr>A DATA-DRIVEN EXPLORATION OF INDIAN MAKE CAR CRASH DATA THROUGH MODELING AND ENSEMBLE TECHNIQUES</vt:lpstr>
      <vt:lpstr>PowerPoint Presentation</vt:lpstr>
      <vt:lpstr>1 BACKROUND</vt:lpstr>
      <vt:lpstr>1 PROBLEM MOTIVATION</vt:lpstr>
      <vt:lpstr>2 OBJECTIVES</vt:lpstr>
      <vt:lpstr>3 DATA</vt:lpstr>
      <vt:lpstr>4 DESCRIPTIVE &amp; PREDICTIVE ANALYSIS</vt:lpstr>
      <vt:lpstr>5 RESULTS &amp; INTERPRETATIONS</vt:lpstr>
      <vt:lpstr>5 RESULTS &amp; INTERPRETATIONS</vt:lpstr>
      <vt:lpstr>6 RECOMMENDATION &amp; CONCLUSION</vt:lpstr>
      <vt:lpstr>7 REFERENCES</vt:lpstr>
      <vt:lpstr>THANK YOU</vt:lpstr>
    </vt:vector>
  </TitlesOfParts>
  <Manager>Slide Members</Manager>
  <Company>YESFORM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Deepti</cp:lastModifiedBy>
  <cp:revision>22</cp:revision>
  <dcterms:created xsi:type="dcterms:W3CDTF">2010-02-01T08:03:16Z</dcterms:created>
  <dcterms:modified xsi:type="dcterms:W3CDTF">2024-09-14T07:08:32Z</dcterms:modified>
  <cp:category>www.slidemembers.com</cp:category>
</cp:coreProperties>
</file>